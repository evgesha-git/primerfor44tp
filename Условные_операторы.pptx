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5"/>
  </p:notesMasterIdLst>
  <p:sldIdLst>
    <p:sldId id="256" r:id="rId2"/>
    <p:sldId id="257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</p:sldIdLst>
  <p:sldSz cx="12192000" cy="6858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Questrial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621E1D-6AFB-4B88-A93B-C0697564145A}">
  <a:tblStyle styleId="{16621E1D-6AFB-4B88-A93B-C0697564145A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2E7E6"/>
          </a:solidFill>
        </a:fill>
      </a:tcStyle>
    </a:wholeTbl>
    <a:band1H>
      <a:tcTxStyle/>
      <a:tcStyle>
        <a:tcBdr/>
        <a:fill>
          <a:solidFill>
            <a:srgbClr val="E3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3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72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7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600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542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1745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7107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288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9777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9420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0650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37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Questrial"/>
              <a:buNone/>
              <a:defRPr sz="7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Questrial"/>
              <a:buNone/>
              <a:defRPr sz="4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Questrial"/>
              <a:buNone/>
              <a:defRPr sz="24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  <a:defRPr sz="36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анорамная фотография с подписью">
  <p:cSld name="Панорамная фотография с подписью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Questrial"/>
              <a:buNone/>
              <a:defRPr sz="24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>
            <a:spLocks noGrp="1"/>
          </p:cNvSpPr>
          <p:nvPr>
            <p:ph type="pic" idx="2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одпись">
  <p:cSld name="Заголовок и подпись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Questrial"/>
              <a:buNone/>
              <a:defRPr sz="48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с подписью">
  <p:cSld name="Цитата с подписью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Questrial"/>
              <a:buNone/>
              <a:defRPr sz="48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small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0" b="0" i="0" u="none" strike="noStrike" cap="non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0" b="0" i="0" u="none" strike="noStrike" cap="non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очка имени">
  <p:cSld name="Карточка имени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Questrial"/>
              <a:buNone/>
              <a:defRPr sz="4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колонки">
  <p:cSld name="Три колонки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2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3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4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5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6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cxnSp>
        <p:nvCxnSpPr>
          <p:cNvPr id="110" name="Google Shape;110;p1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толбец с тремя рисунками">
  <p:cSld name="Столбец с тремя рисунками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8" name="Google Shape;118;p16"/>
          <p:cNvSpPr>
            <a:spLocks noGrp="1"/>
          </p:cNvSpPr>
          <p:nvPr>
            <p:ph type="pic" idx="2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3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4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1" name="Google Shape;121;p16"/>
          <p:cNvSpPr>
            <a:spLocks noGrp="1"/>
          </p:cNvSpPr>
          <p:nvPr>
            <p:ph type="pic" idx="5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6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7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rgbClr val="86D1D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4" name="Google Shape;124;p16"/>
          <p:cNvSpPr>
            <a:spLocks noGrp="1"/>
          </p:cNvSpPr>
          <p:nvPr>
            <p:ph type="pic" idx="8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9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720"/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cxnSp>
        <p:nvCxnSpPr>
          <p:cNvPr id="126" name="Google Shape;126;p16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16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body" idx="1"/>
          </p:nvPr>
        </p:nvSpPr>
        <p:spPr>
          <a:xfrm rot="5400000">
            <a:off x="1679575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20">
            <a:alphaModFix/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1">
            <a:alphaModFix/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2">
            <a:alphaModFix/>
          </a:blip>
          <a:srcRect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3">
            <a:alphaModFix/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Questrial"/>
              <a:buNone/>
              <a:defRPr sz="42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ctrTitle"/>
          </p:nvPr>
        </p:nvSpPr>
        <p:spPr>
          <a:xfrm>
            <a:off x="949911" y="1501559"/>
            <a:ext cx="10377995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Questrial"/>
              <a:buNone/>
            </a:pPr>
            <a:r>
              <a:rPr lang="ru-RU" sz="6000" b="0" i="0" u="none" strike="noStrike" cap="none" dirty="0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Оператор ветвления.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6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Google Shape;153;p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46111" y="1108365"/>
                <a:ext cx="10335566" cy="5296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indent="-342900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Рассмотрим программу с нелинейной структурой.</a:t>
                </a:r>
              </a:p>
              <a:p>
                <a:pPr marL="342900" indent="-342900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endParaRPr lang="ru-RU" sz="2000" b="0" i="0" u="none" strike="noStrike" cap="none" dirty="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  <a:p>
                <a:pPr marL="342900" indent="-342900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Допустим мы хотим по данному числу x определить его абсолютную величину (модуль). Программа должна напечатать значение переменной x, если </a:t>
                </a:r>
                <a14:m>
                  <m:oMath xmlns:m="http://schemas.openxmlformats.org/officeDocument/2006/math"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𝑥</m:t>
                    </m:r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≥0</m:t>
                    </m:r>
                  </m:oMath>
                </a14:m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или же величину </a:t>
                </a:r>
                <a14:m>
                  <m:oMath xmlns:m="http://schemas.openxmlformats.org/officeDocument/2006/math"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−</m:t>
                    </m:r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𝑥</m:t>
                    </m:r>
                  </m:oMath>
                </a14:m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в противном случае. Линейная структура программы нарушается: в зависимости от справедливости условия </a:t>
                </a:r>
                <a14:m>
                  <m:oMath xmlns:m="http://schemas.openxmlformats.org/officeDocument/2006/math"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𝑥</m:t>
                    </m:r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≥0</m:t>
                    </m:r>
                  </m:oMath>
                </a14:m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должна быть выведена одна или другая величина. Соответствующий фрагмент программы на Питоне имеет вид:</a:t>
                </a:r>
                <a:endParaRPr lang="en-US" sz="2000" b="0" i="0" u="none" strike="noStrike" cap="none" dirty="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53" name="Google Shape;153;p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6111" y="1108365"/>
                <a:ext cx="10335566" cy="5296918"/>
              </a:xfrm>
              <a:prstGeom prst="rect">
                <a:avLst/>
              </a:prstGeom>
              <a:blipFill>
                <a:blip r:embed="rId3"/>
                <a:stretch>
                  <a:fillRect l="-236" t="-8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8CCBB1D-5B29-4F60-A0D4-1AC226CF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493" y="3429000"/>
            <a:ext cx="2632798" cy="185938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input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())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(-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6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Google Shape;153;p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46111" y="1108365"/>
                <a:ext cx="10335566" cy="5296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indent="-342900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В этой программе используется условная инструкция </a:t>
                </a:r>
                <a:r>
                  <a:rPr lang="ru-RU" sz="2000" b="0" i="0" u="none" strike="noStrike" cap="none" dirty="0" err="1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if</a:t>
                </a: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(если). После слова </a:t>
                </a:r>
                <a:r>
                  <a:rPr lang="ru-RU" sz="2000" b="0" i="0" u="none" strike="noStrike" cap="none" dirty="0" err="1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if</a:t>
                </a: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указывается проверяемое условие (</a:t>
                </a:r>
                <a14:m>
                  <m:oMath xmlns:m="http://schemas.openxmlformats.org/officeDocument/2006/math"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𝑥</m:t>
                    </m:r>
                    <m:r>
                      <a:rPr lang="en-US" sz="2000" b="0" i="1" u="none" strike="noStrike" cap="none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  <a:ea typeface="Questrial"/>
                        <a:cs typeface="Questrial"/>
                        <a:sym typeface="Questrial"/>
                      </a:rPr>
                      <m:t>≥0</m:t>
                    </m:r>
                  </m:oMath>
                </a14:m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), завершающееся двоеточием. После этого идет блок (последовательность) инструкций, который будет выполнен, если условие истинно; в нашем примере это вывод на экран величины x. Затем идет слово </a:t>
                </a:r>
                <a:r>
                  <a:rPr lang="ru-RU" sz="2000" b="0" i="0" u="none" strike="noStrike" cap="none" dirty="0" err="1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else</a:t>
                </a: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(иначе), также завершающееся двоеточием, и блок инструкций, который будет выполнен, если проверяемое условие неверно, в данном случае будет выведено значение -x.</a:t>
                </a:r>
              </a:p>
              <a:p>
                <a:pPr marL="342900" indent="-342900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ru-RU" sz="2000" b="0" i="0" u="none" strike="noStrike" cap="none" dirty="0">
                    <a:solidFill>
                      <a:schemeClr val="lt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Итак, условная инструкция в Питоне имеет следующий синтаксис:</a:t>
                </a:r>
              </a:p>
              <a:p>
                <a:pPr marL="342900" indent="-342900"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endParaRPr lang="ru-RU" sz="2000" b="0" i="0" u="none" strike="noStrike" cap="none" dirty="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53" name="Google Shape;153;p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6111" y="1108365"/>
                <a:ext cx="10335566" cy="5296918"/>
              </a:xfrm>
              <a:prstGeom prst="rect">
                <a:avLst/>
              </a:prstGeom>
              <a:blipFill>
                <a:blip r:embed="rId3"/>
                <a:stretch>
                  <a:fillRect l="-236" t="-8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490A1709-5D0F-44D7-AE1B-BABF7747F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857" y="3756824"/>
            <a:ext cx="3168073" cy="155160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Условие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Блок инструкций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1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Блок инструкций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2</a:t>
            </a:r>
            <a:endParaRPr kumimoji="0" lang="ru-BY" altLang="ru-BY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7DFBC-09AF-4119-ACCF-FDDF47AA1CD3}"/>
              </a:ext>
            </a:extLst>
          </p:cNvPr>
          <p:cNvSpPr txBox="1"/>
          <p:nvPr/>
        </p:nvSpPr>
        <p:spPr>
          <a:xfrm>
            <a:off x="1750291" y="5491717"/>
            <a:ext cx="8691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sym typeface="Questrial"/>
              </a:rPr>
              <a:t>Блок инструкций 1 будет выполнен, если Условие истинно. Если Условие ложно, будет выполнен Блок инструкций 2</a:t>
            </a:r>
            <a:r>
              <a:rPr lang="ru-RU" dirty="0"/>
              <a:t>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32359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6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</a:t>
            </a:r>
            <a:endParaRPr dirty="0"/>
          </a:p>
        </p:txBody>
      </p:sp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646111" y="1108365"/>
            <a:ext cx="10335566" cy="529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dirty="0"/>
              <a:t>В условной инструкции может отсутствовать слово </a:t>
            </a:r>
            <a:r>
              <a:rPr lang="ru-RU" dirty="0" err="1"/>
              <a:t>else</a:t>
            </a:r>
            <a:r>
              <a:rPr lang="ru-RU" dirty="0"/>
              <a:t> и последующий блок. Например, если дано число x и мы хотим заменить его на абсолютную величину x, то это можно сделать следующим образом:</a:t>
            </a:r>
            <a:endParaRPr lang="ru-RU" sz="2000" b="0" i="0" u="none" strike="noStrike" cap="none" dirty="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7DFBC-09AF-4119-ACCF-FDDF47AA1CD3}"/>
              </a:ext>
            </a:extLst>
          </p:cNvPr>
          <p:cNvSpPr txBox="1"/>
          <p:nvPr/>
        </p:nvSpPr>
        <p:spPr>
          <a:xfrm>
            <a:off x="646110" y="3429000"/>
            <a:ext cx="109917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sym typeface="Questrial"/>
              </a:rPr>
              <a:t>В этом примере переменной x будет присвоено значение -x, но только в том случае, когда x&lt;0. А вот инструкция </a:t>
            </a:r>
            <a:r>
              <a:rPr lang="ru-RU" sz="2000" dirty="0" err="1">
                <a:solidFill>
                  <a:schemeClr val="lt1"/>
                </a:solidFill>
                <a:sym typeface="Questrial"/>
              </a:rPr>
              <a:t>print</a:t>
            </a:r>
            <a:r>
              <a:rPr lang="ru-RU" sz="2000" dirty="0">
                <a:solidFill>
                  <a:schemeClr val="lt1"/>
                </a:solidFill>
                <a:sym typeface="Questrial"/>
              </a:rPr>
              <a:t>(x) будет выполнена всегда, независимо от проверяемого условия.</a:t>
            </a:r>
          </a:p>
          <a:p>
            <a:endParaRPr lang="ru-RU" sz="2000" dirty="0">
              <a:solidFill>
                <a:schemeClr val="lt1"/>
              </a:solidFill>
              <a:sym typeface="Questrial"/>
            </a:endParaRPr>
          </a:p>
          <a:p>
            <a:r>
              <a:rPr lang="ru-RU" sz="2000" dirty="0">
                <a:solidFill>
                  <a:schemeClr val="lt1"/>
                </a:solidFill>
                <a:sym typeface="Questrial"/>
              </a:rPr>
              <a:t>Для выделения блока инструкций, относящихся к инструкции </a:t>
            </a:r>
            <a:r>
              <a:rPr lang="ru-RU" sz="2000" dirty="0" err="1">
                <a:solidFill>
                  <a:schemeClr val="lt1"/>
                </a:solidFill>
                <a:sym typeface="Questrial"/>
              </a:rPr>
              <a:t>if</a:t>
            </a:r>
            <a:r>
              <a:rPr lang="ru-RU" sz="2000" dirty="0">
                <a:solidFill>
                  <a:schemeClr val="lt1"/>
                </a:solidFill>
                <a:sym typeface="Questrial"/>
              </a:rPr>
              <a:t> или </a:t>
            </a:r>
            <a:r>
              <a:rPr lang="ru-RU" sz="2000" dirty="0" err="1">
                <a:solidFill>
                  <a:schemeClr val="lt1"/>
                </a:solidFill>
                <a:sym typeface="Questrial"/>
              </a:rPr>
              <a:t>else</a:t>
            </a:r>
            <a:r>
              <a:rPr lang="ru-RU" sz="2000" dirty="0">
                <a:solidFill>
                  <a:schemeClr val="lt1"/>
                </a:solidFill>
                <a:sym typeface="Questrial"/>
              </a:rPr>
              <a:t> в языке Питон используются отступы. Все инструкции, которые относятся к одному блоку, должны иметь равную величину отступа, то есть одинаковое число пробелов в начале строки. Рекомендуется использовать отступ в 4 пробела (и не рекомендуется использовать в качестве отступа символ табуляции).</a:t>
            </a:r>
            <a:endParaRPr lang="ru-B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5F024-873E-45F0-8531-2FBBC1CCB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9492" y="2185171"/>
            <a:ext cx="1828800" cy="124382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-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</a:t>
            </a: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40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1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ветвления. Вложенные условные инструкции</a:t>
            </a:r>
            <a:endParaRPr lang="ru-RU" dirty="0"/>
          </a:p>
        </p:txBody>
      </p:sp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646111" y="2567709"/>
            <a:ext cx="10335566" cy="383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dirty="0"/>
              <a:t>Внутри условных инструкций можно использовать любые инструкции языка Питон, в том числе и еще одну условную инструкцию. Получаем вложенное ветвление — после одной развилки в ходе исполнения программы появляется другая развилка. При этом вложенные блоки имеют больший размер отступа (например, 8 пробелов). Покажем это на примере программы, которая по данным ненулевым числам x и y определяет, в какой из четвертей координатной плоскости находится точка (</a:t>
            </a:r>
            <a:r>
              <a:rPr lang="ru-RU" dirty="0" err="1"/>
              <a:t>x,y</a:t>
            </a:r>
            <a:r>
              <a:rPr lang="ru-RU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223401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1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ветвления. Вложенные условные инструкции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89165" y="1579418"/>
            <a:ext cx="6613670" cy="401381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input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())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y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input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())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# x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,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"Первая четверть"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# x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,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"Четвертая четверть"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# x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,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"Вторая четверть"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# x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,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endParaRPr kumimoji="0" lang="ru-BY" altLang="ru-BY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BY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	</a:t>
            </a:r>
            <a:r>
              <a:rPr kumimoji="0" lang="ru-BY" altLang="ru-BY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"Третья четверть"</a:t>
            </a:r>
            <a:r>
              <a:rPr kumimoji="0" lang="ru-BY" altLang="ru-BY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5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69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ветвления. Операторы сравнения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1145308"/>
            <a:ext cx="9735561" cy="54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Как правило, в качестве проверяемого условия используется результат вычисления одного из следующих операторов сравнения: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ru-RU" altLang="ru-BY" dirty="0"/>
          </a:p>
          <a:p>
            <a:pPr marL="8001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&lt;  Меньше — условие верно, если первый операнд меньше второго.</a:t>
            </a:r>
          </a:p>
          <a:p>
            <a:pPr marL="8001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&gt;  Больше — условие верно, если первый операнд больше второго.</a:t>
            </a:r>
          </a:p>
          <a:p>
            <a:pPr marL="8001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&lt;=  Меньше или равно.</a:t>
            </a:r>
          </a:p>
          <a:p>
            <a:pPr marL="8001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&gt;=  Больше или равно.</a:t>
            </a:r>
          </a:p>
          <a:p>
            <a:pPr marL="8001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==  Равенство. Условие верно, если два операнда равны.</a:t>
            </a:r>
          </a:p>
          <a:p>
            <a:pPr marL="8001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!=  Неравенство. Условие верно, если два операнда неравны.</a:t>
            </a:r>
            <a:endParaRPr lang="en-US" altLang="ru-BY" dirty="0"/>
          </a:p>
          <a:p>
            <a:pPr marL="360363" lvl="1" indent="-360363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Например, условие</a:t>
            </a:r>
            <a:r>
              <a:rPr lang="en-US" altLang="ru-BY" dirty="0"/>
              <a:t> 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x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*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1000 </a:t>
            </a:r>
            <a:r>
              <a:rPr lang="ru-RU" dirty="0"/>
              <a:t>означает “значение x * x меньше 1000”, а условие</a:t>
            </a:r>
            <a:r>
              <a:rPr lang="en-US" dirty="0"/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2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*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!=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y </a:t>
            </a:r>
            <a:r>
              <a:rPr lang="ru-RU" dirty="0"/>
              <a:t>означает “удвоенное значение переменной x не равно значению переменной y”.</a:t>
            </a:r>
            <a:endParaRPr lang="en-US" dirty="0"/>
          </a:p>
          <a:p>
            <a:pPr marL="360363" lvl="1" indent="-360363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Операторы сравнения в Питоне можно объединять в цепочки (в отличии от большинства других языков программирования, где для этого нужно использовать логические связки), например,</a:t>
            </a:r>
            <a:r>
              <a:rPr lang="en-US" altLang="ru-BY" dirty="0"/>
              <a:t> 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a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==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b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==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c </a:t>
            </a:r>
            <a:r>
              <a:rPr lang="ru-RU" dirty="0"/>
              <a:t>или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1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&lt;=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&lt;=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10</a:t>
            </a:r>
            <a:r>
              <a:rPr lang="ru-RU" dirty="0">
                <a:effectLst/>
                <a:latin typeface="SFMono-Regular"/>
              </a:rPr>
              <a:t>.</a:t>
            </a:r>
          </a:p>
          <a:p>
            <a:pPr marL="360363" lvl="1" indent="-360363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Операторы сравнения возвращают значения специального логического типа </a:t>
            </a:r>
            <a:r>
              <a:rPr lang="ru-RU" altLang="ru-BY" b="1" dirty="0" err="1"/>
              <a:t>bool</a:t>
            </a:r>
            <a:r>
              <a:rPr lang="ru-RU" altLang="ru-BY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4251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69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ветвления. Логические операторы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2373745"/>
            <a:ext cx="9735561" cy="423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Иногда нужно проверить одновременно не одно, а несколько условий. Например, проверить, является ли данное число четным можно при помощи условия (n % 2 == 0) (остаток от деления n на 2 равен 0), а если необходимо проверить, что два данных целых числа n и m являются четными, необходимо проверить справедливость обоих условий: n % 2 == 0 и m % 2 == 0, для чего их необходимо объединить при помощи оператора </a:t>
            </a:r>
            <a:r>
              <a:rPr lang="ru-RU" altLang="ru-BY" dirty="0" err="1"/>
              <a:t>and</a:t>
            </a:r>
            <a:r>
              <a:rPr lang="ru-RU" altLang="ru-BY" dirty="0"/>
              <a:t> (логическое И): n % 2 == 0 </a:t>
            </a:r>
            <a:r>
              <a:rPr lang="ru-RU" altLang="ru-BY" dirty="0" err="1"/>
              <a:t>and</a:t>
            </a:r>
            <a:r>
              <a:rPr lang="ru-RU" altLang="ru-BY" dirty="0"/>
              <a:t> m % 2 == 0.</a:t>
            </a:r>
          </a:p>
        </p:txBody>
      </p:sp>
    </p:spTree>
    <p:extLst>
      <p:ext uri="{BB962C8B-B14F-4D97-AF65-F5344CB8AC3E}">
        <p14:creationId xmlns:p14="http://schemas.microsoft.com/office/powerpoint/2010/main" val="62223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117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ветвления. Логические операторы. Пример.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2373745"/>
            <a:ext cx="9735561" cy="423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ПРИМЕР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Проверим, что хотя бы одно из чисел a или b оканчивается на 0: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Проверим, что число a — положительное, а b — неотрицательное: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Или можно вместо </a:t>
            </a:r>
            <a:r>
              <a:rPr lang="ru-RU" altLang="ru-BY" dirty="0" err="1"/>
              <a:t>not</a:t>
            </a:r>
            <a:r>
              <a:rPr lang="ru-RU" altLang="ru-BY" dirty="0"/>
              <a:t> (b &lt; 0) записать (b &gt;= 0).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B7AF7-A87F-4C4F-87D4-2A3C4CCF6469}"/>
              </a:ext>
            </a:extLst>
          </p:cNvPr>
          <p:cNvSpPr txBox="1"/>
          <p:nvPr/>
        </p:nvSpPr>
        <p:spPr>
          <a:xfrm>
            <a:off x="1080436" y="3225699"/>
            <a:ext cx="3722254" cy="62827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60363" indent="0" defTabSz="914400" eaLnBrk="0" fontAlgn="ctr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2000" b="1" normalizeH="0" baseline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  <a:ea typeface="Questrial"/>
                <a:cs typeface="Questrial"/>
                <a:sym typeface="Questrial"/>
              </a:defRPr>
            </a:lvl1pPr>
            <a:lvl2pPr marL="914400" indent="-320040">
              <a:spcBef>
                <a:spcPts val="1000"/>
              </a:spcBef>
              <a:buClr>
                <a:srgbClr val="86D1D8"/>
              </a:buClr>
              <a:buSzPts val="1440"/>
              <a:buFont typeface="Noto Sans Symbols"/>
              <a:buChar char="▶"/>
              <a:def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indent="-309880">
              <a:spcBef>
                <a:spcPts val="1000"/>
              </a:spcBef>
              <a:buClr>
                <a:srgbClr val="86D1D8"/>
              </a:buClr>
              <a:buSzPts val="1280"/>
              <a:buFont typeface="Noto Sans Symbols"/>
              <a:buChar char="▶"/>
              <a:defRPr sz="1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indent="-299719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b="1" i="0" dirty="0"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a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%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10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==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or b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%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10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==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lang="ru-B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B629F-5ABB-4586-8E38-7035F2A3C6BF}"/>
              </a:ext>
            </a:extLst>
          </p:cNvPr>
          <p:cNvSpPr txBox="1"/>
          <p:nvPr/>
        </p:nvSpPr>
        <p:spPr>
          <a:xfrm>
            <a:off x="1080436" y="4391791"/>
            <a:ext cx="3722254" cy="62827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60363" indent="0" defTabSz="914400" eaLnBrk="0" fontAlgn="ctr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2000" b="1" normalizeH="0" baseline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  <a:ea typeface="Questrial"/>
                <a:cs typeface="Questrial"/>
                <a:sym typeface="Questrial"/>
              </a:defRPr>
            </a:lvl1pPr>
            <a:lvl2pPr marL="914400" indent="-320040">
              <a:spcBef>
                <a:spcPts val="1000"/>
              </a:spcBef>
              <a:buClr>
                <a:srgbClr val="86D1D8"/>
              </a:buClr>
              <a:buSzPts val="1440"/>
              <a:buFont typeface="Noto Sans Symbols"/>
              <a:buChar char="▶"/>
              <a:def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indent="-309880">
              <a:spcBef>
                <a:spcPts val="1000"/>
              </a:spcBef>
              <a:buClr>
                <a:srgbClr val="86D1D8"/>
              </a:buClr>
              <a:buSzPts val="1280"/>
              <a:buFont typeface="Noto Sans Symbols"/>
              <a:buChar char="▶"/>
              <a:defRPr sz="1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indent="-299719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b="1" i="0" dirty="0"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a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and </a:t>
            </a:r>
            <a:r>
              <a:rPr lang="en-US" b="1" i="0" dirty="0">
                <a:solidFill>
                  <a:srgbClr val="DCDCAA"/>
                </a:solidFill>
                <a:effectLst/>
                <a:latin typeface="SFMono-Regular"/>
              </a:rPr>
              <a:t>not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b 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lang="en-US" b="1" i="0" dirty="0"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lang="en-US" b="1" i="0" dirty="0"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lang="en-US" b="1" i="0" dirty="0">
                <a:solidFill>
                  <a:srgbClr val="D4D4D4"/>
                </a:solidFill>
                <a:effectLst/>
                <a:latin typeface="SFMono-Regular"/>
              </a:rPr>
              <a:t>):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684412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117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Оператор ветвления. Каскадные условные инструкции.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1632531"/>
            <a:ext cx="9735561" cy="498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Пример программы, определяющий четверть координатной плоскости, можно переписать используя “каскадную“ последовательность операцией </a:t>
            </a:r>
            <a:r>
              <a:rPr lang="ru-RU" altLang="ru-BY" dirty="0" err="1"/>
              <a:t>if</a:t>
            </a:r>
            <a:r>
              <a:rPr lang="ru-RU" altLang="ru-BY" dirty="0"/>
              <a:t>… </a:t>
            </a:r>
            <a:r>
              <a:rPr lang="ru-RU" altLang="ru-BY" dirty="0" err="1"/>
              <a:t>elif</a:t>
            </a:r>
            <a:r>
              <a:rPr lang="ru-RU" altLang="ru-BY" dirty="0"/>
              <a:t>… </a:t>
            </a:r>
            <a:r>
              <a:rPr lang="ru-RU" altLang="ru-BY" dirty="0" err="1"/>
              <a:t>else</a:t>
            </a:r>
            <a:r>
              <a:rPr lang="ru-RU" altLang="ru-BY" dirty="0"/>
              <a:t>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CA2ED3-F496-4B0F-B918-C871C57D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908" y="2748404"/>
            <a:ext cx="4618182" cy="339826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input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())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y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input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())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and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"Первая четверть"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elif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x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and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"Четвертая четверть"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elif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y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&gt;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"Вторая четверть"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"Третья четверть"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8BAB3-0952-427F-B3FD-CABEA7DA126B}"/>
              </a:ext>
            </a:extLst>
          </p:cNvPr>
          <p:cNvSpPr txBox="1"/>
          <p:nvPr/>
        </p:nvSpPr>
        <p:spPr>
          <a:xfrm>
            <a:off x="6326690" y="3429000"/>
            <a:ext cx="5098908" cy="239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buClr>
                <a:srgbClr val="86D1D8"/>
              </a:buClr>
              <a:buSzPts val="1600"/>
              <a:buFont typeface="Wingdings" panose="05000000000000000000" pitchFamily="2" charset="2"/>
              <a:buChar char="§"/>
              <a:defRPr sz="2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indent="-320040">
              <a:spcBef>
                <a:spcPts val="1000"/>
              </a:spcBef>
              <a:buClr>
                <a:srgbClr val="86D1D8"/>
              </a:buClr>
              <a:buSzPts val="1440"/>
              <a:buFont typeface="Noto Sans Symbols"/>
              <a:buChar char="▶"/>
              <a:def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indent="-309880">
              <a:spcBef>
                <a:spcPts val="1000"/>
              </a:spcBef>
              <a:buClr>
                <a:srgbClr val="86D1D8"/>
              </a:buClr>
              <a:buSzPts val="1280"/>
              <a:buFont typeface="Noto Sans Symbols"/>
              <a:buChar char="▶"/>
              <a:defRPr sz="1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indent="-299719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indent="-299720">
              <a:spcBef>
                <a:spcPts val="1000"/>
              </a:spcBef>
              <a:buClr>
                <a:srgbClr val="86D1D8"/>
              </a:buClr>
              <a:buSzPts val="1120"/>
              <a:buFont typeface="Noto Sans Symbols"/>
              <a:buChar char="▶"/>
              <a:defRPr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ru-RU" dirty="0"/>
              <a:t>В такой конструкции условия </a:t>
            </a:r>
            <a:r>
              <a:rPr lang="ru-RU" dirty="0" err="1"/>
              <a:t>if</a:t>
            </a:r>
            <a:r>
              <a:rPr lang="ru-RU" dirty="0"/>
              <a:t>, …, </a:t>
            </a:r>
            <a:r>
              <a:rPr lang="ru-RU" dirty="0" err="1"/>
              <a:t>elif</a:t>
            </a:r>
            <a:r>
              <a:rPr lang="ru-RU" dirty="0"/>
              <a:t> проверяются по очереди, выполняется блок, соответствующий первому из истинных условий. Если все проверяемые условия ложны, то выполняется блок </a:t>
            </a:r>
            <a:r>
              <a:rPr lang="ru-RU" dirty="0" err="1"/>
              <a:t>else</a:t>
            </a:r>
            <a:r>
              <a:rPr lang="ru-RU" dirty="0"/>
              <a:t>, если он присутствует.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58902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71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Инструкции управления циклом в </a:t>
            </a:r>
            <a:r>
              <a:rPr lang="ru-RU" sz="3600" dirty="0" err="1"/>
              <a:t>Python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2133599"/>
            <a:ext cx="9735561" cy="447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После тела цикла можно написать команду </a:t>
            </a:r>
            <a:r>
              <a:rPr lang="ru-RU" altLang="ru-BY" dirty="0" err="1"/>
              <a:t>else</a:t>
            </a:r>
            <a:r>
              <a:rPr lang="ru-RU" altLang="ru-BY" dirty="0"/>
              <a:t>:, и после него блок операций, который будет выполнен один раз после окончания цикла, когда проверяемое условие станет неверно: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F93BCB-7BF5-4AFD-B89E-B9BE3CD2D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7889" y="3429000"/>
            <a:ext cx="4212001" cy="216715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i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1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while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i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&lt;=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10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i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i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+=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1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else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0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000" b="1" i="0" u="none" strike="noStrike" cap="none" normalizeH="0" baseline="0" dirty="0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	</a:t>
            </a:r>
            <a:r>
              <a:rPr kumimoji="0" lang="ru-BY" altLang="ru-BY" sz="2000" b="1" i="0" u="none" strike="noStrike" cap="none" normalizeH="0" baseline="0" dirty="0" err="1">
                <a:ln>
                  <a:noFill/>
                </a:ln>
                <a:solidFill>
                  <a:srgbClr val="DCDCAA"/>
                </a:solidFill>
                <a:effectLst/>
                <a:latin typeface="SFMono-Regular"/>
              </a:rPr>
              <a:t>print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(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CE9178"/>
                </a:solidFill>
                <a:effectLst/>
                <a:latin typeface="SFMono-Regular"/>
              </a:rPr>
              <a:t>'Цикл окончен, i ='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,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i</a:t>
            </a:r>
            <a:r>
              <a:rPr kumimoji="0" lang="ru-BY" altLang="ru-BY" sz="20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)</a:t>
            </a:r>
            <a:endParaRPr kumimoji="0" lang="ru-BY" altLang="ru-BY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355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71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Инструкции управления циклом в </a:t>
            </a:r>
            <a:r>
              <a:rPr lang="ru-RU" sz="3600" dirty="0" err="1"/>
              <a:t>Python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2179782"/>
            <a:ext cx="9735561" cy="443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Казалось бы, никакого смысла в этом нет, ведь эту же инструкцию можно просто написать после окончания цикла. Смысл появляется только вместе с инструкцией </a:t>
            </a:r>
            <a:r>
              <a:rPr lang="ru-RU" altLang="ru-BY" dirty="0" err="1"/>
              <a:t>break</a:t>
            </a:r>
            <a:r>
              <a:rPr lang="ru-RU" altLang="ru-BY" dirty="0"/>
              <a:t>, использование которой внутри цикла приводит к немедленному прекращению цикла, и при этом не исполняется ветка </a:t>
            </a:r>
            <a:r>
              <a:rPr lang="ru-RU" altLang="ru-BY" dirty="0" err="1"/>
              <a:t>else</a:t>
            </a:r>
            <a:r>
              <a:rPr lang="ru-RU" altLang="ru-BY" dirty="0"/>
              <a:t>. Разумеется, инструкцию </a:t>
            </a:r>
            <a:r>
              <a:rPr lang="ru-RU" altLang="ru-BY" dirty="0" err="1"/>
              <a:t>break</a:t>
            </a:r>
            <a:r>
              <a:rPr lang="ru-RU" altLang="ru-BY" dirty="0"/>
              <a:t> осмысленно вызывать только из инструкции </a:t>
            </a:r>
            <a:r>
              <a:rPr lang="ru-RU" altLang="ru-BY" dirty="0" err="1"/>
              <a:t>if</a:t>
            </a:r>
            <a:r>
              <a:rPr lang="ru-RU" altLang="ru-BY" dirty="0"/>
              <a:t>, то есть она должна выполняться только при выполнении какого-то особенного условия.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Другая инструкция управления циклом — </a:t>
            </a:r>
            <a:r>
              <a:rPr lang="ru-RU" altLang="ru-BY" dirty="0" err="1"/>
              <a:t>continue</a:t>
            </a:r>
            <a:r>
              <a:rPr lang="ru-RU" altLang="ru-BY" dirty="0"/>
              <a:t> (продолжение цикла). Если эта инструкция встречается где-то посередине цикла, то пропускаются все оставшиеся инструкции до конца цикла, и исполнение цикла продолжается со следующей итерации.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</p:txBody>
      </p:sp>
    </p:spTree>
    <p:extLst>
      <p:ext uri="{BB962C8B-B14F-4D97-AF65-F5344CB8AC3E}">
        <p14:creationId xmlns:p14="http://schemas.microsoft.com/office/powerpoint/2010/main" val="375939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735562" cy="71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estrial"/>
              <a:buNone/>
            </a:pPr>
            <a:r>
              <a:rPr lang="ru-RU" sz="3600" dirty="0"/>
              <a:t>Инструкции управления циклом в </a:t>
            </a:r>
            <a:r>
              <a:rPr lang="ru-RU" sz="3600" dirty="0" err="1"/>
              <a:t>Python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F86E6-0B5B-4FDE-A802-A0E08435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0" y="2179782"/>
            <a:ext cx="9735561" cy="443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altLang="ru-BY" dirty="0"/>
              <a:t>Инструкции </a:t>
            </a:r>
            <a:r>
              <a:rPr lang="ru-RU" altLang="ru-BY" dirty="0" err="1"/>
              <a:t>break</a:t>
            </a:r>
            <a:r>
              <a:rPr lang="ru-RU" altLang="ru-BY" dirty="0"/>
              <a:t>, </a:t>
            </a:r>
            <a:r>
              <a:rPr lang="ru-RU" altLang="ru-BY" dirty="0" err="1"/>
              <a:t>continue</a:t>
            </a:r>
            <a:r>
              <a:rPr lang="ru-RU" altLang="ru-BY" dirty="0"/>
              <a:t> и ветка </a:t>
            </a:r>
            <a:r>
              <a:rPr lang="ru-RU" altLang="ru-BY" dirty="0" err="1"/>
              <a:t>else</a:t>
            </a:r>
            <a:r>
              <a:rPr lang="ru-RU" altLang="ru-BY" dirty="0"/>
              <a:t>: можно использовать и с циклом </a:t>
            </a:r>
            <a:r>
              <a:rPr lang="ru-RU" altLang="ru-BY" dirty="0" err="1"/>
              <a:t>for</a:t>
            </a:r>
            <a:r>
              <a:rPr lang="ru-RU" altLang="ru-BY" dirty="0"/>
              <a:t>. Тем не менее, увлечение инструкциями </a:t>
            </a:r>
            <a:r>
              <a:rPr lang="ru-RU" altLang="ru-BY" dirty="0" err="1"/>
              <a:t>break</a:t>
            </a:r>
            <a:r>
              <a:rPr lang="ru-RU" altLang="ru-BY" dirty="0"/>
              <a:t> и </a:t>
            </a:r>
            <a:r>
              <a:rPr lang="ru-RU" altLang="ru-BY" dirty="0" err="1"/>
              <a:t>continue</a:t>
            </a:r>
            <a:r>
              <a:rPr lang="ru-RU" altLang="ru-BY" dirty="0"/>
              <a:t> не поощряется, если можно обойтись без их использования. Вот типичный пример плохого использования инструкции </a:t>
            </a:r>
            <a:r>
              <a:rPr lang="ru-RU" altLang="ru-BY" dirty="0" err="1"/>
              <a:t>break</a:t>
            </a:r>
            <a:r>
              <a:rPr lang="ru-RU" altLang="ru-BY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  <a:p>
            <a:pPr marL="0" indent="0">
              <a:spcBef>
                <a:spcPts val="0"/>
              </a:spcBef>
              <a:buNone/>
            </a:pPr>
            <a:endParaRPr lang="ru-RU" altLang="ru-BY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D8A22FB-22E3-4450-BD79-41C09B39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181" y="3539717"/>
            <a:ext cx="3611418" cy="24749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28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while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800" b="1" i="0" u="none" strike="noStrike" cap="none" normalizeH="0" baseline="0" dirty="0" err="1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True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8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	</a:t>
            </a:r>
            <a:r>
              <a:rPr kumimoji="0" lang="ru-BY" altLang="ru-BY" sz="2800" b="1" i="0" u="none" strike="noStrike" cap="none" normalizeH="0" baseline="0" dirty="0" err="1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length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+=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1</a:t>
            </a:r>
            <a:endParaRPr kumimoji="0" lang="ru-BY" altLang="ru-BY" sz="28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	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n 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6A9955"/>
                </a:solidFill>
                <a:effectLst/>
                <a:latin typeface="SFMono-Regular"/>
              </a:rPr>
              <a:t>//= 10</a:t>
            </a:r>
            <a:endParaRPr kumimoji="0" lang="ru-BY" altLang="ru-BY" sz="28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800" b="1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	</a:t>
            </a:r>
            <a:r>
              <a:rPr kumimoji="0" lang="ru-BY" altLang="ru-BY" sz="28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if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n 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==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9CDCFE"/>
                </a:solidFill>
                <a:effectLst/>
                <a:latin typeface="SFMono-Regular"/>
              </a:rPr>
              <a:t> 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B5CEA8"/>
                </a:solidFill>
                <a:effectLst/>
                <a:latin typeface="SFMono-Regular"/>
              </a:rPr>
              <a:t>0</a:t>
            </a:r>
            <a:r>
              <a:rPr kumimoji="0" lang="ru-BY" altLang="ru-BY" sz="2800" b="1" i="0" u="none" strike="noStrike" cap="none" normalizeH="0" baseline="0" dirty="0">
                <a:ln>
                  <a:noFill/>
                </a:ln>
                <a:solidFill>
                  <a:srgbClr val="D4D4D4"/>
                </a:solidFill>
                <a:effectLst/>
                <a:latin typeface="SFMono-Regular"/>
              </a:rPr>
              <a:t>:</a:t>
            </a:r>
            <a:endParaRPr kumimoji="0" lang="ru-BY" altLang="ru-BY" sz="2800" b="1" i="0" u="none" strike="noStrike" cap="none" normalizeH="0" baseline="0" dirty="0">
              <a:ln>
                <a:noFill/>
              </a:ln>
              <a:solidFill>
                <a:srgbClr val="9CDCFE"/>
              </a:solidFill>
              <a:effectLst/>
              <a:latin typeface="SFMono-Regular"/>
            </a:endParaRPr>
          </a:p>
          <a:p>
            <a:pPr marL="360363" marR="0" lvl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BY" sz="2800" b="1" i="0" u="none" strike="noStrike" cap="none" normalizeH="0" baseline="0" dirty="0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		</a:t>
            </a:r>
            <a:r>
              <a:rPr kumimoji="0" lang="ru-BY" altLang="ru-BY" sz="2800" b="1" i="0" u="none" strike="noStrike" cap="none" normalizeH="0" baseline="0" dirty="0" err="1">
                <a:ln>
                  <a:noFill/>
                </a:ln>
                <a:solidFill>
                  <a:srgbClr val="569CD6"/>
                </a:solidFill>
                <a:effectLst/>
                <a:latin typeface="SFMono-Regular"/>
              </a:rPr>
              <a:t>break</a:t>
            </a:r>
            <a:endParaRPr kumimoji="0" lang="ru-BY" altLang="ru-BY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70786"/>
      </p:ext>
    </p:extLst>
  </p:cSld>
  <p:clrMapOvr>
    <a:masterClrMapping/>
  </p:clrMapOvr>
</p:sld>
</file>

<file path=ppt/theme/theme1.xml><?xml version="1.0" encoding="utf-8"?>
<a:theme xmlns:a="http://schemas.openxmlformats.org/drawingml/2006/main" name="Ион">
  <a:themeElements>
    <a:clrScheme name="Ион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1265</Words>
  <Application>Microsoft Office PowerPoint</Application>
  <PresentationFormat>Широкоэкранный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Questrial</vt:lpstr>
      <vt:lpstr>Noto Sans Symbols</vt:lpstr>
      <vt:lpstr>Wingdings</vt:lpstr>
      <vt:lpstr>SFMono-Regular</vt:lpstr>
      <vt:lpstr>Arial</vt:lpstr>
      <vt:lpstr>Cambria Math</vt:lpstr>
      <vt:lpstr>Ион</vt:lpstr>
      <vt:lpstr>Оператор ветвления.</vt:lpstr>
      <vt:lpstr>Оператор ветвления</vt:lpstr>
      <vt:lpstr>Оператор ветвления</vt:lpstr>
      <vt:lpstr>Оператор ветвления</vt:lpstr>
      <vt:lpstr>Оператор ветвления. Вложенные условные инструкции</vt:lpstr>
      <vt:lpstr>Оператор ветвления. Вложенные условные инструкции</vt:lpstr>
      <vt:lpstr>Оператор ветвления. Операторы сравнения</vt:lpstr>
      <vt:lpstr>Оператор ветвления. Логические операторы</vt:lpstr>
      <vt:lpstr>Оператор ветвления. Логические операторы. Пример.</vt:lpstr>
      <vt:lpstr>Оператор ветвления. Каскадные условные инструкции.</vt:lpstr>
      <vt:lpstr>Инструкции управления циклом в Python</vt:lpstr>
      <vt:lpstr>Инструкции управления циклом в Python</vt:lpstr>
      <vt:lpstr>Инструкции управления циклом в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данных, переменные, арифметические операторы и математические функции</dc:title>
  <cp:lastModifiedBy>Евгений Крыж</cp:lastModifiedBy>
  <cp:revision>14</cp:revision>
  <dcterms:modified xsi:type="dcterms:W3CDTF">2021-02-01T21:04:44Z</dcterms:modified>
</cp:coreProperties>
</file>